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0602-C239-E377-1ACE-FD2DEA2F8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366FC-3305-2A6A-56E5-0DCA2E5E6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82C5-835D-8EC3-A87B-C43D91FA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E46E3-01DC-D9D7-38C9-67309334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E1DA5-727A-C455-B08C-F8D487FF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9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619D-444B-D615-48BF-3F683AD13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7DE1D-CED0-7D88-8067-BAE68EFEA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994C3-74F9-662B-55D8-5A5A44583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04E2B-6C17-E2E7-C872-F07C0030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FA201-0815-1404-25C3-7F11B8E33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74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77C8-8B26-311B-0717-477F96CE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CDF23-5C95-F128-2549-9F3A924B2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6A9A8-71BF-0C6C-443C-DE182287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B18D5-0177-CDB7-7591-5A7EA7FE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BEECF-BB3C-CFB3-F108-61E4F923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7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483E-7AAE-17B1-5AC1-95DE7EE3D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A2F4-A8F2-A63F-F459-C20EA21AE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10D85-6805-18F1-8CCA-5760070E1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71740-9663-FD96-6283-3719035B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FC17A-C82F-08D3-E7AF-71916406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B2D35-8A87-8DB2-BD61-EE168551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F484-3CE8-EF39-1E9B-E84E6CA38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98F4E-A456-772D-B076-87699A90A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7DB68-810C-FCCB-257B-054E42096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129F5D-0663-01B2-F0A3-D1EAE5C00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763299-48D3-539D-20D5-58D5FAAC4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20163-6286-6B52-0030-E0649A1B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B9EFC-C945-783B-CCAC-DDA69C8F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64822-AC6E-401E-A50E-11795F0C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55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A641-3D39-EFD6-379F-619AEDE7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4FAB0E-3124-B416-872F-574BEB2C3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6CE7C-3BA2-EAD2-D532-878CE71D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37065-1C8C-A5FF-57AB-5C1B34816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4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7532C-73A8-E94E-D3A0-33DC5D72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21462E-48F0-57B4-E92F-99063ACC7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903A7-CC64-2669-622B-2F9911C6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0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316A-C60F-AB56-5B48-1982A4F6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A03C0-5286-4918-CD7B-A8B183322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E91BC-9D9A-E183-FB76-0E0F32BFC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76CAA-AF7D-7DB3-DFD1-F744A547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B1308-F9DB-F484-F28B-D15017547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5B442-C97F-99BA-2342-04116B6C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3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1EB67-7B0E-EEB2-1482-A34E5779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979C0-5A88-3BBF-4EBC-73E1C26CD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963B6-B620-4EDB-7D99-3FF0AB68B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E7397-66DE-4F71-B15E-554978F5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C3506-DB6F-196D-C7E9-2CF1AD74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40B1D-5588-BD7D-5D38-4172C149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3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645F-EB88-AF55-8D22-8CB2A948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74D97-F6D6-698D-3F83-B3B481351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DFC47-1CD2-ECB2-5DC4-3EDCD705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73419-C9B8-F574-D8D2-9E40CE5B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5740D-319D-90D6-6B09-F2085610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0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2BF5F-F095-C6EB-C8D3-E267B284A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BE6D0-D2E4-CBF2-7F6D-145A88EF5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5721B-DDC7-B70A-8E3E-57CDCBD2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29BCE-55B0-C7BD-613D-7D0B5B52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69016-3A6D-8A21-E1C9-B20E6550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2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A84E7-3CFA-00CC-C5D2-E839CA054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36B7F-6A8D-7CD3-2CD1-A3900E616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2F347-14A6-B11F-685A-3AE060BEC5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97C71B-CFE7-4B1C-9415-1B9DF5E0C2C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2EA31-5C04-3075-3FED-9C3B60317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00D33-3612-86BF-2949-81D5C71C57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1D2C2-E2A6-4C4A-9FD8-754D988EB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9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CD30E6-CC20-35CA-3F54-46C3E8DB98B6}"/>
              </a:ext>
            </a:extLst>
          </p:cNvPr>
          <p:cNvSpPr/>
          <p:nvPr/>
        </p:nvSpPr>
        <p:spPr>
          <a:xfrm>
            <a:off x="996950" y="723900"/>
            <a:ext cx="158115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 Geometry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7A1BB2-6102-2BBD-DFDB-8C8AE67550D1}"/>
              </a:ext>
            </a:extLst>
          </p:cNvPr>
          <p:cNvSpPr/>
          <p:nvPr/>
        </p:nvSpPr>
        <p:spPr>
          <a:xfrm>
            <a:off x="996950" y="1809750"/>
            <a:ext cx="158115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Mesh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CDC0B4-1627-39C6-03DA-B31A07D38676}"/>
              </a:ext>
            </a:extLst>
          </p:cNvPr>
          <p:cNvSpPr/>
          <p:nvPr/>
        </p:nvSpPr>
        <p:spPr>
          <a:xfrm>
            <a:off x="996950" y="2971800"/>
            <a:ext cx="158115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Define Material + Section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0D6124-740C-03B2-62FD-6367788838C2}"/>
              </a:ext>
            </a:extLst>
          </p:cNvPr>
          <p:cNvSpPr/>
          <p:nvPr/>
        </p:nvSpPr>
        <p:spPr>
          <a:xfrm>
            <a:off x="996950" y="4210050"/>
            <a:ext cx="158115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Assembly, step, BCs, loads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408552-F280-685A-A756-286B6E081666}"/>
              </a:ext>
            </a:extLst>
          </p:cNvPr>
          <p:cNvSpPr/>
          <p:nvPr/>
        </p:nvSpPr>
        <p:spPr>
          <a:xfrm>
            <a:off x="996950" y="5397500"/>
            <a:ext cx="158115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writeInput</a:t>
            </a:r>
            <a:r>
              <a:rPr lang="en-US" dirty="0"/>
              <a:t> from Job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B775C-0008-8C50-09C3-4E0C005164BF}"/>
              </a:ext>
            </a:extLst>
          </p:cNvPr>
          <p:cNvSpPr/>
          <p:nvPr/>
        </p:nvSpPr>
        <p:spPr>
          <a:xfrm>
            <a:off x="438150" y="400050"/>
            <a:ext cx="5175250" cy="62039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77B97-78CA-B458-720D-FE5A4DD7EC1E}"/>
              </a:ext>
            </a:extLst>
          </p:cNvPr>
          <p:cNvSpPr txBox="1"/>
          <p:nvPr/>
        </p:nvSpPr>
        <p:spPr>
          <a:xfrm>
            <a:off x="2317579" y="82035"/>
            <a:ext cx="141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Abaqus CAE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73C106-E9E6-6E13-3B67-F0A3B793E5F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578100" y="5854700"/>
            <a:ext cx="3467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942E44-8B99-1FAF-8C42-6092D4E74ED9}"/>
              </a:ext>
            </a:extLst>
          </p:cNvPr>
          <p:cNvSpPr txBox="1"/>
          <p:nvPr/>
        </p:nvSpPr>
        <p:spPr>
          <a:xfrm>
            <a:off x="6013832" y="5670034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inp</a:t>
            </a:r>
            <a:r>
              <a:rPr lang="en-US" dirty="0"/>
              <a:t> 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F6B260A-4DAC-F0FA-7081-E0051C1A8021}"/>
              </a:ext>
            </a:extLst>
          </p:cNvPr>
          <p:cNvSpPr/>
          <p:nvPr/>
        </p:nvSpPr>
        <p:spPr>
          <a:xfrm>
            <a:off x="3444875" y="1250176"/>
            <a:ext cx="1581150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 Optimization Task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7C4AD6A-3524-287A-6E5B-A6D5E48116AC}"/>
              </a:ext>
            </a:extLst>
          </p:cNvPr>
          <p:cNvSpPr/>
          <p:nvPr/>
        </p:nvSpPr>
        <p:spPr>
          <a:xfrm>
            <a:off x="3444875" y="2336026"/>
            <a:ext cx="1581150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Optimization Process “Job”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812FAD-BE6A-2135-5DC1-3D229662E5AD}"/>
              </a:ext>
            </a:extLst>
          </p:cNvPr>
          <p:cNvSpPr/>
          <p:nvPr/>
        </p:nvSpPr>
        <p:spPr>
          <a:xfrm>
            <a:off x="3444875" y="3498076"/>
            <a:ext cx="1581150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Submit Optimization “Job”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8082B8-93EB-D58B-FF64-4DC6B2217365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026025" y="3955276"/>
            <a:ext cx="9175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82FAEBC-FC39-A21A-261D-41968ECD6DA9}"/>
              </a:ext>
            </a:extLst>
          </p:cNvPr>
          <p:cNvSpPr txBox="1"/>
          <p:nvPr/>
        </p:nvSpPr>
        <p:spPr>
          <a:xfrm>
            <a:off x="5943599" y="3498076"/>
            <a:ext cx="1547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.par file + optimization files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F8FB15-81CC-4135-DC3A-30805CF6636A}"/>
              </a:ext>
            </a:extLst>
          </p:cNvPr>
          <p:cNvSpPr/>
          <p:nvPr/>
        </p:nvSpPr>
        <p:spPr>
          <a:xfrm>
            <a:off x="3263900" y="1154927"/>
            <a:ext cx="2012950" cy="3429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097B03-009A-E686-BA87-80D2ED38C757}"/>
              </a:ext>
            </a:extLst>
          </p:cNvPr>
          <p:cNvSpPr txBox="1"/>
          <p:nvPr/>
        </p:nvSpPr>
        <p:spPr>
          <a:xfrm>
            <a:off x="3138494" y="847080"/>
            <a:ext cx="226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Optimization Module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45C0BC5-7347-9338-BA11-5B41F7C427A9}"/>
              </a:ext>
            </a:extLst>
          </p:cNvPr>
          <p:cNvSpPr/>
          <p:nvPr/>
        </p:nvSpPr>
        <p:spPr>
          <a:xfrm>
            <a:off x="8102600" y="530096"/>
            <a:ext cx="1581150" cy="9144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Manual .par script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01996F-9144-221D-7B23-7477D88252AA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9683750" y="987296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55F1295-DA64-7D78-D72D-228D3EC59CE4}"/>
              </a:ext>
            </a:extLst>
          </p:cNvPr>
          <p:cNvSpPr txBox="1"/>
          <p:nvPr/>
        </p:nvSpPr>
        <p:spPr>
          <a:xfrm>
            <a:off x="10420350" y="78559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.par file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B7764B-9858-23D0-BC60-CB9CA63DE597}"/>
              </a:ext>
            </a:extLst>
          </p:cNvPr>
          <p:cNvSpPr/>
          <p:nvPr/>
        </p:nvSpPr>
        <p:spPr>
          <a:xfrm>
            <a:off x="7626350" y="2437108"/>
            <a:ext cx="3981450" cy="159514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07614B-6F33-D538-C869-3ED9D7CC2F64}"/>
              </a:ext>
            </a:extLst>
          </p:cNvPr>
          <p:cNvSpPr txBox="1"/>
          <p:nvPr/>
        </p:nvSpPr>
        <p:spPr>
          <a:xfrm>
            <a:off x="9237291" y="2082284"/>
            <a:ext cx="759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Tosca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317B50A-EDB8-457D-82DA-503528F375E9}"/>
              </a:ext>
            </a:extLst>
          </p:cNvPr>
          <p:cNvSpPr/>
          <p:nvPr/>
        </p:nvSpPr>
        <p:spPr>
          <a:xfrm>
            <a:off x="8839200" y="2724150"/>
            <a:ext cx="1581150" cy="9144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Submit Optimization “Job”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C2B3002-7850-4DF6-9271-7FD4A645D9CC}"/>
              </a:ext>
            </a:extLst>
          </p:cNvPr>
          <p:cNvCxnSpPr>
            <a:stCxn id="11" idx="3"/>
            <a:endCxn id="37" idx="1"/>
          </p:cNvCxnSpPr>
          <p:nvPr/>
        </p:nvCxnSpPr>
        <p:spPr>
          <a:xfrm flipV="1">
            <a:off x="6926261" y="3181350"/>
            <a:ext cx="1912939" cy="26733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2C89130B-BE8C-2B73-C34B-51D730F1F431}"/>
              </a:ext>
            </a:extLst>
          </p:cNvPr>
          <p:cNvCxnSpPr>
            <a:stCxn id="29" idx="2"/>
            <a:endCxn id="37" idx="0"/>
          </p:cNvCxnSpPr>
          <p:nvPr/>
        </p:nvCxnSpPr>
        <p:spPr>
          <a:xfrm rot="5400000">
            <a:off x="9473368" y="1311334"/>
            <a:ext cx="1569223" cy="1256408"/>
          </a:xfrm>
          <a:prstGeom prst="bentConnector3">
            <a:avLst>
              <a:gd name="adj1" fmla="val 888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6424666-9EF8-66C0-EE62-AA692738B428}"/>
              </a:ext>
            </a:extLst>
          </p:cNvPr>
          <p:cNvCxnSpPr>
            <a:cxnSpLocks/>
            <a:stCxn id="37" idx="2"/>
            <a:endCxn id="44" idx="0"/>
          </p:cNvCxnSpPr>
          <p:nvPr/>
        </p:nvCxnSpPr>
        <p:spPr>
          <a:xfrm>
            <a:off x="9629775" y="3638550"/>
            <a:ext cx="0" cy="752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9AC0D78-3509-6248-20BF-851B4732B20C}"/>
              </a:ext>
            </a:extLst>
          </p:cNvPr>
          <p:cNvSpPr txBox="1"/>
          <p:nvPr/>
        </p:nvSpPr>
        <p:spPr>
          <a:xfrm>
            <a:off x="8856059" y="4391100"/>
            <a:ext cx="1547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“Tosca” 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.par file + optimization files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A6645FA-0937-9E17-4E9F-D057BABB1DEB}"/>
              </a:ext>
            </a:extLst>
          </p:cNvPr>
          <p:cNvSpPr txBox="1"/>
          <p:nvPr/>
        </p:nvSpPr>
        <p:spPr>
          <a:xfrm>
            <a:off x="10331276" y="5380672"/>
            <a:ext cx="1860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optimization module and the tosca workflows are separate methods for TO.</a:t>
            </a:r>
          </a:p>
        </p:txBody>
      </p:sp>
    </p:spTree>
    <p:extLst>
      <p:ext uri="{BB962C8B-B14F-4D97-AF65-F5344CB8AC3E}">
        <p14:creationId xmlns:p14="http://schemas.microsoft.com/office/powerpoint/2010/main" val="216947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21A726E-3422-9A94-8D92-8E9B519613CF}"/>
              </a:ext>
            </a:extLst>
          </p:cNvPr>
          <p:cNvGrpSpPr/>
          <p:nvPr/>
        </p:nvGrpSpPr>
        <p:grpSpPr>
          <a:xfrm>
            <a:off x="0" y="0"/>
            <a:ext cx="1952805" cy="6859682"/>
            <a:chOff x="6867345" y="-2220578"/>
            <a:chExt cx="2406471" cy="84532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831F20A-B554-CF8A-D78F-DA0137331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67345" y="-2220578"/>
              <a:ext cx="2406471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8BF403-16A1-BBC6-3C9D-7ADE04BD2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7346" y="4637422"/>
              <a:ext cx="2238290" cy="1595290"/>
            </a:xfrm>
            <a:prstGeom prst="rect">
              <a:avLst/>
            </a:prstGeom>
          </p:spPr>
        </p:pic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FFCA30-CFBB-FE99-119B-31368FA75961}"/>
              </a:ext>
            </a:extLst>
          </p:cNvPr>
          <p:cNvCxnSpPr>
            <a:cxnSpLocks/>
          </p:cNvCxnSpPr>
          <p:nvPr/>
        </p:nvCxnSpPr>
        <p:spPr>
          <a:xfrm>
            <a:off x="195280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C19CF1-C554-A48C-3F5C-C1426DA5C327}"/>
              </a:ext>
            </a:extLst>
          </p:cNvPr>
          <p:cNvSpPr txBox="1"/>
          <p:nvPr/>
        </p:nvSpPr>
        <p:spPr>
          <a:xfrm>
            <a:off x="4451350" y="2506858"/>
            <a:ext cx="402071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Build geometry</a:t>
            </a:r>
          </a:p>
          <a:p>
            <a:pPr marL="342900" indent="-342900">
              <a:buAutoNum type="arabicPeriod"/>
            </a:pPr>
            <a:r>
              <a:rPr lang="en-US" dirty="0"/>
              <a:t>Mesh</a:t>
            </a:r>
          </a:p>
          <a:p>
            <a:pPr marL="342900" indent="-342900">
              <a:buAutoNum type="arabicPeriod"/>
            </a:pPr>
            <a:r>
              <a:rPr lang="en-US" dirty="0"/>
              <a:t>Define material + section</a:t>
            </a:r>
          </a:p>
          <a:p>
            <a:pPr marL="342900" indent="-342900">
              <a:buAutoNum type="arabicPeriod"/>
            </a:pPr>
            <a:r>
              <a:rPr lang="en-US" dirty="0"/>
              <a:t>Assembly, step, BCs, loads</a:t>
            </a:r>
          </a:p>
          <a:p>
            <a:pPr marL="342900" indent="-342900">
              <a:buAutoNum type="arabicPeriod"/>
            </a:pPr>
            <a:r>
              <a:rPr lang="en-US" dirty="0"/>
              <a:t>Create job and </a:t>
            </a:r>
            <a:r>
              <a:rPr lang="en-US" dirty="0" err="1"/>
              <a:t>writeInput</a:t>
            </a:r>
            <a:r>
              <a:rPr lang="en-US" dirty="0"/>
              <a:t>()</a:t>
            </a:r>
          </a:p>
          <a:p>
            <a:pPr marL="342900" indent="-342900">
              <a:buAutoNum type="arabicPeriod"/>
            </a:pPr>
            <a:r>
              <a:rPr lang="en-US" dirty="0"/>
              <a:t>Define optimization</a:t>
            </a:r>
          </a:p>
          <a:p>
            <a:pPr marL="342900" indent="-342900">
              <a:buAutoNum type="arabicPeriod"/>
            </a:pPr>
            <a:r>
              <a:rPr lang="en-US" dirty="0"/>
              <a:t>Create optimization job and submit</a:t>
            </a:r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6F55368A-91AC-7577-764E-1DCA5187B37A}"/>
              </a:ext>
            </a:extLst>
          </p:cNvPr>
          <p:cNvSpPr/>
          <p:nvPr/>
        </p:nvSpPr>
        <p:spPr>
          <a:xfrm>
            <a:off x="7569200" y="2583058"/>
            <a:ext cx="99056" cy="7683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E5860-F585-C79C-68BC-20C131D93613}"/>
              </a:ext>
            </a:extLst>
          </p:cNvPr>
          <p:cNvSpPr txBox="1"/>
          <p:nvPr/>
        </p:nvSpPr>
        <p:spPr>
          <a:xfrm>
            <a:off x="7618728" y="2782567"/>
            <a:ext cx="180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Interchangeable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4D46906-F386-BF5A-C718-C418F6423C9D}"/>
              </a:ext>
            </a:extLst>
          </p:cNvPr>
          <p:cNvCxnSpPr>
            <a:cxnSpLocks/>
          </p:cNvCxnSpPr>
          <p:nvPr/>
        </p:nvCxnSpPr>
        <p:spPr>
          <a:xfrm>
            <a:off x="781050" y="868373"/>
            <a:ext cx="3594100" cy="1839727"/>
          </a:xfrm>
          <a:prstGeom prst="bentConnector3">
            <a:avLst>
              <a:gd name="adj1" fmla="val 6325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C94BE12-7E48-1BE3-205F-0C05E37A1010}"/>
              </a:ext>
            </a:extLst>
          </p:cNvPr>
          <p:cNvCxnSpPr>
            <a:cxnSpLocks/>
          </p:cNvCxnSpPr>
          <p:nvPr/>
        </p:nvCxnSpPr>
        <p:spPr>
          <a:xfrm>
            <a:off x="1037086" y="2264606"/>
            <a:ext cx="3338064" cy="7026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A4722FE-111F-69FD-2254-9076D59C2F06}"/>
              </a:ext>
            </a:extLst>
          </p:cNvPr>
          <p:cNvCxnSpPr>
            <a:cxnSpLocks/>
          </p:cNvCxnSpPr>
          <p:nvPr/>
        </p:nvCxnSpPr>
        <p:spPr>
          <a:xfrm>
            <a:off x="1111387" y="2408049"/>
            <a:ext cx="3263763" cy="856564"/>
          </a:xfrm>
          <a:prstGeom prst="bentConnector3">
            <a:avLst>
              <a:gd name="adj1" fmla="val 344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1ACEFD1C-35F3-F9EB-A07A-F7C1289E488F}"/>
              </a:ext>
            </a:extLst>
          </p:cNvPr>
          <p:cNvCxnSpPr>
            <a:cxnSpLocks/>
          </p:cNvCxnSpPr>
          <p:nvPr/>
        </p:nvCxnSpPr>
        <p:spPr>
          <a:xfrm>
            <a:off x="960886" y="2906402"/>
            <a:ext cx="3414264" cy="613308"/>
          </a:xfrm>
          <a:prstGeom prst="bentConnector3">
            <a:avLst>
              <a:gd name="adj1" fmla="val 273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214845F-D4D2-FE07-361A-DBE90EA7A5C7}"/>
              </a:ext>
            </a:extLst>
          </p:cNvPr>
          <p:cNvCxnSpPr>
            <a:cxnSpLocks/>
          </p:cNvCxnSpPr>
          <p:nvPr/>
        </p:nvCxnSpPr>
        <p:spPr>
          <a:xfrm flipV="1">
            <a:off x="781050" y="3745864"/>
            <a:ext cx="3594100" cy="24665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EB77B04-B38D-FE78-954E-4CCA88E53439}"/>
              </a:ext>
            </a:extLst>
          </p:cNvPr>
          <p:cNvCxnSpPr>
            <a:cxnSpLocks/>
          </p:cNvCxnSpPr>
          <p:nvPr/>
        </p:nvCxnSpPr>
        <p:spPr>
          <a:xfrm flipV="1">
            <a:off x="1352550" y="4048179"/>
            <a:ext cx="3022600" cy="1565221"/>
          </a:xfrm>
          <a:prstGeom prst="bentConnector3">
            <a:avLst>
              <a:gd name="adj1" fmla="val 476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B39DA73F-8316-565F-98C9-B338DDD65241}"/>
              </a:ext>
            </a:extLst>
          </p:cNvPr>
          <p:cNvCxnSpPr>
            <a:cxnSpLocks/>
          </p:cNvCxnSpPr>
          <p:nvPr/>
        </p:nvCxnSpPr>
        <p:spPr>
          <a:xfrm flipV="1">
            <a:off x="1454150" y="4357687"/>
            <a:ext cx="2921000" cy="24298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ight Brace 81">
            <a:extLst>
              <a:ext uri="{FF2B5EF4-FFF2-40B4-BE49-F238E27FC236}">
                <a16:creationId xmlns:a16="http://schemas.microsoft.com/office/drawing/2014/main" id="{232B9C7F-B2FA-ABB6-3F42-418A7136314E}"/>
              </a:ext>
            </a:extLst>
          </p:cNvPr>
          <p:cNvSpPr/>
          <p:nvPr/>
        </p:nvSpPr>
        <p:spPr>
          <a:xfrm>
            <a:off x="7569200" y="3686276"/>
            <a:ext cx="107950" cy="51703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D594C74-06AA-EF42-CD81-67A8635BE0EB}"/>
              </a:ext>
            </a:extLst>
          </p:cNvPr>
          <p:cNvSpPr txBox="1"/>
          <p:nvPr/>
        </p:nvSpPr>
        <p:spPr>
          <a:xfrm>
            <a:off x="7618727" y="3760129"/>
            <a:ext cx="180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Interchangeable</a:t>
            </a:r>
          </a:p>
        </p:txBody>
      </p:sp>
    </p:spTree>
    <p:extLst>
      <p:ext uri="{BB962C8B-B14F-4D97-AF65-F5344CB8AC3E}">
        <p14:creationId xmlns:p14="http://schemas.microsoft.com/office/powerpoint/2010/main" val="13250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F5214A-4A3C-CC6C-A3C5-F5A83F2E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656" y="763524"/>
            <a:ext cx="4056392" cy="5791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4AE4D0-478A-1C23-9830-171D75144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942" y="763524"/>
            <a:ext cx="3406589" cy="579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2CC3F5-28E9-03E8-60A8-2CCB106FFB28}"/>
              </a:ext>
            </a:extLst>
          </p:cNvPr>
          <p:cNvSpPr txBox="1"/>
          <p:nvPr/>
        </p:nvSpPr>
        <p:spPr>
          <a:xfrm>
            <a:off x="276943" y="394192"/>
            <a:ext cx="340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Exp8c_write_par.py (Variation 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A5808-FAAB-DCE7-2250-9AD376AB1B8F}"/>
              </a:ext>
            </a:extLst>
          </p:cNvPr>
          <p:cNvSpPr txBox="1"/>
          <p:nvPr/>
        </p:nvSpPr>
        <p:spPr>
          <a:xfrm>
            <a:off x="4176558" y="396978"/>
            <a:ext cx="340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abaqusMacros.py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B29C1F-67D6-CDA9-8A98-09AB69D10ED3}"/>
              </a:ext>
            </a:extLst>
          </p:cNvPr>
          <p:cNvSpPr txBox="1"/>
          <p:nvPr/>
        </p:nvSpPr>
        <p:spPr>
          <a:xfrm>
            <a:off x="8174749" y="763524"/>
            <a:ext cx="38204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IMPORTANT</a:t>
            </a:r>
            <a:r>
              <a:rPr lang="en-US" sz="1200" dirty="0"/>
              <a:t>:</a:t>
            </a:r>
            <a:br>
              <a:rPr lang="en-US" sz="1200" dirty="0"/>
            </a:br>
            <a:r>
              <a:rPr lang="en-US" sz="1200" dirty="0" err="1">
                <a:solidFill>
                  <a:srgbClr val="0070C0"/>
                </a:solidFill>
              </a:rPr>
              <a:t>mdb</a:t>
            </a:r>
            <a:r>
              <a:rPr lang="en-US" sz="1200" dirty="0" err="1"/>
              <a:t>.</a:t>
            </a:r>
            <a:r>
              <a:rPr lang="en-US" sz="1200" dirty="0" err="1">
                <a:solidFill>
                  <a:srgbClr val="FF0000"/>
                </a:solidFill>
              </a:rPr>
              <a:t>OptimizationProcess</a:t>
            </a:r>
            <a:r>
              <a:rPr lang="en-US" sz="1200" dirty="0">
                <a:solidFill>
                  <a:srgbClr val="00B050"/>
                </a:solidFill>
              </a:rPr>
              <a:t>(...)</a:t>
            </a:r>
            <a:br>
              <a:rPr lang="en-US" sz="1200" dirty="0"/>
            </a:br>
            <a:r>
              <a:rPr lang="en-US" sz="1200" dirty="0"/>
              <a:t>                              and</a:t>
            </a:r>
            <a:br>
              <a:rPr lang="en-US" sz="1200" dirty="0"/>
            </a:br>
            <a:r>
              <a:rPr lang="en-US" sz="1200" dirty="0" err="1">
                <a:solidFill>
                  <a:srgbClr val="0070C0"/>
                </a:solidFill>
              </a:rPr>
              <a:t>mdb</a:t>
            </a:r>
            <a:r>
              <a:rPr lang="en-US" sz="1200" dirty="0" err="1"/>
              <a:t>.</a:t>
            </a:r>
            <a:r>
              <a:rPr lang="en-US" sz="1200" dirty="0" err="1">
                <a:solidFill>
                  <a:srgbClr val="FF0000"/>
                </a:solidFill>
              </a:rPr>
              <a:t>optimizationProcesses</a:t>
            </a:r>
            <a:r>
              <a:rPr lang="en-US" sz="1200" dirty="0">
                <a:solidFill>
                  <a:srgbClr val="FF0000"/>
                </a:solidFill>
              </a:rPr>
              <a:t>[‘X’].Job</a:t>
            </a:r>
            <a:r>
              <a:rPr lang="en-US" sz="1200" dirty="0">
                <a:solidFill>
                  <a:srgbClr val="00B050"/>
                </a:solidFill>
              </a:rPr>
              <a:t>(…)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are different and must be called out separately to run the optimization module in Abaqus.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70C0"/>
                </a:solidFill>
              </a:rPr>
              <a:t>mdb</a:t>
            </a:r>
            <a:r>
              <a:rPr lang="en-US" sz="1200" dirty="0" err="1"/>
              <a:t>.</a:t>
            </a:r>
            <a:r>
              <a:rPr lang="en-US" sz="1200" dirty="0" err="1">
                <a:solidFill>
                  <a:srgbClr val="FF0000"/>
                </a:solidFill>
              </a:rPr>
              <a:t>OptimizationProcess</a:t>
            </a:r>
            <a:r>
              <a:rPr lang="en-US" sz="1200" dirty="0">
                <a:solidFill>
                  <a:srgbClr val="00B050"/>
                </a:solidFill>
              </a:rPr>
              <a:t>(...)</a:t>
            </a:r>
            <a:br>
              <a:rPr lang="en-US" sz="1200" dirty="0"/>
            </a:br>
            <a:r>
              <a:rPr lang="en-US" sz="1200" dirty="0"/>
              <a:t>defines how optimization will run.</a:t>
            </a:r>
            <a:br>
              <a:rPr lang="en-US" sz="1200" dirty="0"/>
            </a:br>
            <a:endParaRPr lang="en-US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70C0"/>
                </a:solidFill>
              </a:rPr>
              <a:t>mdb</a:t>
            </a:r>
            <a:r>
              <a:rPr lang="en-US" sz="1200" dirty="0" err="1"/>
              <a:t>.</a:t>
            </a:r>
            <a:r>
              <a:rPr lang="en-US" sz="1200" dirty="0" err="1">
                <a:solidFill>
                  <a:srgbClr val="FF0000"/>
                </a:solidFill>
              </a:rPr>
              <a:t>optimizationProcesses</a:t>
            </a:r>
            <a:r>
              <a:rPr lang="en-US" sz="1200" dirty="0">
                <a:solidFill>
                  <a:srgbClr val="FF0000"/>
                </a:solidFill>
              </a:rPr>
              <a:t>[‘X’].Job</a:t>
            </a:r>
            <a:r>
              <a:rPr lang="en-US" sz="1200" dirty="0">
                <a:solidFill>
                  <a:srgbClr val="00B050"/>
                </a:solidFill>
              </a:rPr>
              <a:t>(…)</a:t>
            </a:r>
            <a:br>
              <a:rPr lang="en-US" sz="1200" dirty="0"/>
            </a:br>
            <a:r>
              <a:rPr lang="en-US" sz="1200" dirty="0"/>
              <a:t>defines how each analysis iteration will be executed. </a:t>
            </a:r>
            <a:br>
              <a:rPr lang="en-US" sz="1200" dirty="0"/>
            </a:b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r>
              <a:rPr lang="en-US" sz="1200" b="1" dirty="0"/>
              <a:t>Other Notes</a:t>
            </a:r>
            <a:r>
              <a:rPr lang="en-US" sz="12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70C0"/>
                </a:solidFill>
              </a:rPr>
              <a:t>mdb</a:t>
            </a:r>
            <a:r>
              <a:rPr lang="en-US" sz="1200" dirty="0" err="1"/>
              <a:t>.</a:t>
            </a:r>
            <a:r>
              <a:rPr lang="en-US" sz="1200" dirty="0" err="1">
                <a:solidFill>
                  <a:srgbClr val="FF0000"/>
                </a:solidFill>
              </a:rPr>
              <a:t>optimizationProcesses</a:t>
            </a:r>
            <a:r>
              <a:rPr lang="en-US" sz="1200" dirty="0">
                <a:solidFill>
                  <a:srgbClr val="FF0000"/>
                </a:solidFill>
              </a:rPr>
              <a:t>[‘X’].submit</a:t>
            </a:r>
            <a:r>
              <a:rPr lang="en-US" sz="1200" dirty="0">
                <a:solidFill>
                  <a:schemeClr val="accent6"/>
                </a:solidFill>
              </a:rPr>
              <a:t>() </a:t>
            </a:r>
            <a:r>
              <a:rPr lang="en-US" sz="1200" dirty="0"/>
              <a:t>should now work after correct the par/</a:t>
            </a:r>
            <a:r>
              <a:rPr lang="en-US" sz="1200" dirty="0" err="1"/>
              <a:t>inp</a:t>
            </a:r>
            <a:r>
              <a:rPr lang="en-US" sz="1200" dirty="0"/>
              <a:t> setup.</a:t>
            </a:r>
            <a:br>
              <a:rPr lang="en-US" sz="1200" dirty="0"/>
            </a:b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70C0"/>
                </a:solidFill>
              </a:rPr>
              <a:t>mdb</a:t>
            </a:r>
            <a:r>
              <a:rPr lang="en-US" sz="1200" dirty="0" err="1"/>
              <a:t>.</a:t>
            </a:r>
            <a:r>
              <a:rPr lang="en-US" sz="1200" dirty="0" err="1">
                <a:solidFill>
                  <a:srgbClr val="FF0000"/>
                </a:solidFill>
              </a:rPr>
              <a:t>CombineOptResults</a:t>
            </a:r>
            <a:r>
              <a:rPr lang="en-US" sz="1200" dirty="0">
                <a:solidFill>
                  <a:schemeClr val="accent6"/>
                </a:solidFill>
              </a:rPr>
              <a:t>(…) </a:t>
            </a:r>
            <a:r>
              <a:rPr lang="en-US" sz="1200" dirty="0"/>
              <a:t>is optional, but it is typically done to view the iterations of optimization better.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403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234</Words>
  <Application>Microsoft Office PowerPoint</Application>
  <PresentationFormat>Widescreen</PresentationFormat>
  <Paragraphs>37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Daisy Quach</dc:creator>
  <cp:lastModifiedBy>Daisy Quach</cp:lastModifiedBy>
  <cp:revision>3</cp:revision>
  <dcterms:created xsi:type="dcterms:W3CDTF">2026-02-27T05:19:55Z</dcterms:created>
  <dcterms:modified xsi:type="dcterms:W3CDTF">2026-02-27T06:33:59Z</dcterms:modified>
</cp:coreProperties>
</file>